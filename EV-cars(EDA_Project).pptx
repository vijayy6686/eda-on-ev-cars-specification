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9" r:id="rId11"/>
    <p:sldId id="270" r:id="rId12"/>
    <p:sldId id="272" r:id="rId13"/>
    <p:sldId id="271" r:id="rId14"/>
    <p:sldId id="273" r:id="rId15"/>
    <p:sldId id="274" r:id="rId16"/>
    <p:sldId id="259" r:id="rId17"/>
  </p:sldIdLst>
  <p:sldSz cx="12192000" cy="6858000"/>
  <p:notesSz cx="6858000" cy="9144000"/>
  <p:embeddedFontLst>
    <p:embeddedFont>
      <p:font typeface="Libre Baskerville" panose="02000000000000000000" pitchFamily="2" charset="0"/>
      <p:regular r:id="rId19"/>
      <p:bold r:id="rId20"/>
      <p: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3" roundtripDataSignature="AMtx7mhnFQsu0qTBRZ+C47HNp0tuHCNk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14" name="Google Shape;11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85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99071" y="3429001"/>
            <a:ext cx="7811635" cy="1107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/>
            <a:br>
              <a:rPr lang="en-IN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1" dirty="0"/>
              <a:t>Exploratory Data Analysis </a:t>
            </a:r>
            <a:r>
              <a:rPr lang="en-US" sz="2400" b="1"/>
              <a:t>on EV-Cars </a:t>
            </a:r>
            <a:r>
              <a:rPr lang="en-US" sz="2400" b="1" dirty="0"/>
              <a:t>Specifications</a:t>
            </a:r>
            <a:endParaRPr sz="24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6E404E4-103A-C66B-5451-58418F1A1E12}"/>
              </a:ext>
            </a:extLst>
          </p:cNvPr>
          <p:cNvSpPr txBox="1"/>
          <p:nvPr/>
        </p:nvSpPr>
        <p:spPr>
          <a:xfrm>
            <a:off x="2399071" y="4680973"/>
            <a:ext cx="7924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</a:rPr>
              <a:t>                                 By</a:t>
            </a:r>
          </a:p>
          <a:p>
            <a:r>
              <a:rPr lang="en-IN" sz="2800" b="1" dirty="0">
                <a:solidFill>
                  <a:srgbClr val="C00000"/>
                </a:solidFill>
              </a:rPr>
              <a:t>                          Vijay Golliwar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38918-9C33-3E7C-2E3F-D1D0CCB7E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rgbClr val="C00000"/>
                </a:solidFill>
              </a:rPr>
              <a:t>PROBLEM OBJECTIVE </a:t>
            </a:r>
            <a:r>
              <a:rPr lang="en-IN" sz="2800" dirty="0">
                <a:solidFill>
                  <a:srgbClr val="C00000"/>
                </a:solidFill>
              </a:rPr>
              <a:t>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7E01FE-E8A1-D366-63C9-749B24E84E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9878" y="1307690"/>
            <a:ext cx="10515600" cy="5368413"/>
          </a:xfrm>
        </p:spPr>
        <p:txBody>
          <a:bodyPr/>
          <a:lstStyle/>
          <a:p>
            <a:pPr marL="114300" indent="0">
              <a:buNone/>
            </a:pPr>
            <a:r>
              <a:rPr lang="en-IN" b="1" dirty="0"/>
              <a:t>Problem Statement</a:t>
            </a:r>
            <a:r>
              <a:rPr lang="en-IN" dirty="0"/>
              <a:t>:</a:t>
            </a:r>
          </a:p>
          <a:p>
            <a:pPr marL="114300" indent="0">
              <a:buNone/>
            </a:pPr>
            <a:r>
              <a:rPr lang="en-US" sz="2400" dirty="0"/>
              <a:t>The adoption of Electric Vehicles (EVs) is increasing rapidly across the globe, especially in developed markets like Germany. However, customers and manufacturers face challenges in understanding how various performance factors — such as battery capacity, range, efficiency, and weight — influence the price and availability of EVs.</a:t>
            </a:r>
          </a:p>
          <a:p>
            <a:pPr marL="114300" indent="0">
              <a:buNone/>
            </a:pPr>
            <a:endParaRPr lang="en-US" sz="2400" dirty="0"/>
          </a:p>
          <a:p>
            <a:pPr marL="114300" indent="0">
              <a:buNone/>
            </a:pPr>
            <a:r>
              <a:rPr lang="en-IN" b="1" dirty="0"/>
              <a:t>Goal:</a:t>
            </a:r>
          </a:p>
          <a:p>
            <a:pPr marL="114300" indent="0">
              <a:buNone/>
            </a:pPr>
            <a:r>
              <a:rPr lang="en-US" dirty="0"/>
              <a:t>To analyze electric car data and find key factors that influence their price and availability.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430904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1768A-DB78-D003-834A-345687358F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123" y="365125"/>
            <a:ext cx="10950677" cy="132556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Objective of the Project: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CE8985B-4E05-C5F4-E3EF-7CC1A23485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03123" y="1561860"/>
            <a:ext cx="1144474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web scraping to collect real-world electric car data from </a:t>
            </a:r>
            <a:r>
              <a:rPr lang="en-US" altLang="en-US" sz="2000" dirty="0">
                <a:solidFill>
                  <a:schemeClr val="tx1"/>
                </a:solidFill>
                <a:latin typeface="Arial" panose="020B0604020202020204" pitchFamily="34" charset="0"/>
              </a:rPr>
              <a:t>ev-database.org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Conduct Exploratory Data Analysis (EDA) to clean, visualize, and understand the data.</a:t>
            </a: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how features like brand, model, battery capacity, range, weight, and price are related.</a:t>
            </a: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key trends and insights that influence electric car prices and availability.</a:t>
            </a: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 a data-driven understanding of the electric vehicle market for buyers and manufacturers.</a:t>
            </a:r>
          </a:p>
        </p:txBody>
      </p:sp>
    </p:spTree>
    <p:extLst>
      <p:ext uri="{BB962C8B-B14F-4D97-AF65-F5344CB8AC3E}">
        <p14:creationId xmlns:p14="http://schemas.microsoft.com/office/powerpoint/2010/main" val="164306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FBC8F-120A-2D04-5537-E8D21E4A8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Web Scarping Process: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F45DA3-7C8E-9342-CCE9-49E71227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548299"/>
            <a:ext cx="10515600" cy="435133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/>
              <a:t>Selected Website</a:t>
            </a:r>
            <a:r>
              <a:rPr lang="en-US" sz="2400" dirty="0"/>
              <a:t> – Collected data about electric cars from 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ev-database.org.</a:t>
            </a:r>
            <a:endParaRPr lang="en-US" sz="2400" dirty="0"/>
          </a:p>
          <a:p>
            <a:endParaRPr lang="en-US" sz="2400" dirty="0"/>
          </a:p>
          <a:p>
            <a:r>
              <a:rPr lang="en-US" sz="2400" b="1" dirty="0"/>
              <a:t>Checked Website Structure</a:t>
            </a:r>
            <a:r>
              <a:rPr lang="en-US" sz="2400" dirty="0"/>
              <a:t> – Identified where car details like model, price, battery, and range are located in the HTML.</a:t>
            </a:r>
          </a:p>
          <a:p>
            <a:endParaRPr lang="en-US" sz="2400" dirty="0"/>
          </a:p>
          <a:p>
            <a:r>
              <a:rPr lang="en-US" sz="2400" b="1" dirty="0"/>
              <a:t>Scraped Data</a:t>
            </a:r>
            <a:r>
              <a:rPr lang="en-US" sz="2400" dirty="0"/>
              <a:t> – Used Python libraries such as </a:t>
            </a:r>
            <a:r>
              <a:rPr lang="en-US" sz="2400" i="1" dirty="0" err="1"/>
              <a:t>BeautifulSoup</a:t>
            </a:r>
            <a:r>
              <a:rPr lang="en-US" sz="2400" dirty="0"/>
              <a:t> and </a:t>
            </a:r>
            <a:r>
              <a:rPr lang="en-US" sz="2400" i="1" dirty="0"/>
              <a:t>Requests</a:t>
            </a:r>
            <a:r>
              <a:rPr lang="en-US" sz="2400" dirty="0"/>
              <a:t> to extract the required information.</a:t>
            </a:r>
          </a:p>
          <a:p>
            <a:endParaRPr lang="en-US" sz="2400" dirty="0"/>
          </a:p>
          <a:p>
            <a:r>
              <a:rPr lang="en-US" sz="2400" b="1" dirty="0"/>
              <a:t>Stored Data</a:t>
            </a:r>
            <a:r>
              <a:rPr lang="en-US" sz="2400" dirty="0"/>
              <a:t> – Organized the scraped data into a structured </a:t>
            </a:r>
            <a:r>
              <a:rPr lang="en-US" sz="2400" i="1" dirty="0"/>
              <a:t>Pandas </a:t>
            </a:r>
            <a:r>
              <a:rPr lang="en-US" sz="2400" i="1" dirty="0" err="1"/>
              <a:t>DataFrame</a:t>
            </a:r>
            <a:r>
              <a:rPr lang="en-US" sz="2400" i="1" dirty="0"/>
              <a:t> 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b="1" dirty="0"/>
              <a:t>Cleaned Data</a:t>
            </a:r>
            <a:r>
              <a:rPr lang="en-US" sz="2400" dirty="0"/>
              <a:t> – Removed duplicates, handled missing values, converted data types, and saved the cleaned dataset for EDA.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3814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45131-FCF0-2C31-0770-1D3FDB264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5FE207-63CA-CDE9-3F81-48199F53D5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D4DAE4-16CD-2D88-6EFD-5D1B8C990B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7374"/>
            <a:ext cx="105156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5316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17C4B-7D9C-52CF-83FC-CC8C7A8CA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E4F5F6-AC3B-C2D6-356E-589A939086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B293FB-88EC-2BF4-6717-8C48576F10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1" y="365125"/>
            <a:ext cx="10515599" cy="5811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882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EBA25-38F5-6A74-B2DE-922C28BF01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243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Data Summary: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7ABB8-C781-2E4F-EE68-70B92F697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368"/>
            <a:ext cx="10515600" cy="496759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86D918-28FD-88B3-E3D5-4479420B7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209368"/>
            <a:ext cx="5257800" cy="49675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33FA37F-516E-306E-FA47-8C2C7151C3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209369"/>
            <a:ext cx="5257800" cy="4967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778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A1F0D-66D6-E7DA-236D-70168433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65585"/>
          </a:xfrm>
        </p:spPr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Data Cleaning: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A9AF7D-E3F9-1DE6-D851-9E633566D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022555"/>
            <a:ext cx="10515600" cy="5565058"/>
          </a:xfrm>
        </p:spPr>
        <p:txBody>
          <a:bodyPr>
            <a:normAutofit fontScale="55000" lnSpcReduction="20000"/>
          </a:bodyPr>
          <a:lstStyle/>
          <a:p>
            <a:pPr marL="114300" indent="0">
              <a:buNone/>
            </a:pPr>
            <a:r>
              <a:rPr lang="en-US" sz="3300" dirty="0"/>
              <a:t>The raw data from EV-Database.org contained missing values, inconsistent formats, and extra columns.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IN" sz="3300" dirty="0"/>
              <a:t>Handling Missing Values:</a:t>
            </a:r>
          </a:p>
          <a:p>
            <a:pPr marL="114300" indent="0">
              <a:buNone/>
            </a:pPr>
            <a:r>
              <a:rPr lang="en-IN" sz="3300" dirty="0"/>
              <a:t>       Filled missing Model with corresponding Brand or "Unknown".</a:t>
            </a:r>
          </a:p>
          <a:p>
            <a:pPr marL="114300" indent="0">
              <a:buNone/>
            </a:pPr>
            <a:r>
              <a:rPr lang="en-IN" sz="3300" dirty="0"/>
              <a:t>       Replaced missing numeric values (</a:t>
            </a:r>
            <a:r>
              <a:rPr lang="en-IN" sz="3300" dirty="0" err="1"/>
              <a:t>Battery_kWh</a:t>
            </a:r>
            <a:r>
              <a:rPr lang="en-IN" sz="3300" dirty="0"/>
              <a:t>, </a:t>
            </a:r>
            <a:r>
              <a:rPr lang="en-IN" sz="3300" dirty="0" err="1"/>
              <a:t>Weight_kg</a:t>
            </a:r>
            <a:r>
              <a:rPr lang="en-IN" sz="3300" dirty="0"/>
              <a:t>, Fastcharge_kW, Price) with  median.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33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300" dirty="0"/>
              <a:t>Renamed &amp; Removed Columns:</a:t>
            </a:r>
          </a:p>
          <a:p>
            <a:pPr marL="114300" indent="0">
              <a:buNone/>
            </a:pPr>
            <a:r>
              <a:rPr lang="en-IN" sz="3300" dirty="0"/>
              <a:t>       Renamed </a:t>
            </a:r>
            <a:r>
              <a:rPr lang="en-IN" sz="3300" dirty="0" err="1"/>
              <a:t>Price_Germany</a:t>
            </a:r>
            <a:r>
              <a:rPr lang="en-IN" sz="3300" dirty="0"/>
              <a:t> → Price for simplicity.</a:t>
            </a:r>
          </a:p>
          <a:p>
            <a:pPr marL="114300" indent="0">
              <a:buNone/>
            </a:pPr>
            <a:r>
              <a:rPr lang="en-IN" sz="3300" dirty="0"/>
              <a:t>       Removed unwanted columns like Unnamed: 0 created during CSV save/load.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33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300" dirty="0"/>
              <a:t>Data Type Conversion:</a:t>
            </a:r>
          </a:p>
          <a:p>
            <a:pPr marL="114300" indent="0">
              <a:buNone/>
            </a:pPr>
            <a:r>
              <a:rPr lang="en-IN" sz="3300" dirty="0"/>
              <a:t>       Converted text-based numbers (like '56,859') to numeric using </a:t>
            </a:r>
            <a:r>
              <a:rPr lang="en-IN" sz="3300" dirty="0" err="1"/>
              <a:t>astype</a:t>
            </a:r>
            <a:r>
              <a:rPr lang="en-IN" sz="3300" dirty="0"/>
              <a:t>(float).</a:t>
            </a:r>
          </a:p>
          <a:p>
            <a:pPr marL="114300" indent="0">
              <a:buNone/>
            </a:pPr>
            <a:r>
              <a:rPr lang="en-IN" sz="3300" dirty="0"/>
              <a:t>       Ensured numeric type for </a:t>
            </a:r>
            <a:r>
              <a:rPr lang="en-IN" sz="3300" dirty="0" err="1"/>
              <a:t>Battery_kWh</a:t>
            </a:r>
            <a:r>
              <a:rPr lang="en-IN" sz="3300" dirty="0"/>
              <a:t>, </a:t>
            </a:r>
            <a:r>
              <a:rPr lang="en-IN" sz="3300" dirty="0" err="1"/>
              <a:t>Weight_kg</a:t>
            </a:r>
            <a:r>
              <a:rPr lang="en-IN" sz="3300" dirty="0"/>
              <a:t>, and Fastcharge_kW.</a:t>
            </a:r>
          </a:p>
          <a:p>
            <a:pPr>
              <a:buFont typeface="Wingdings" panose="05000000000000000000" pitchFamily="2" charset="2"/>
              <a:buChar char="§"/>
            </a:pPr>
            <a:endParaRPr lang="en-IN" sz="3300" dirty="0"/>
          </a:p>
          <a:p>
            <a:pPr>
              <a:buFont typeface="Wingdings" panose="05000000000000000000" pitchFamily="2" charset="2"/>
              <a:buChar char="§"/>
            </a:pPr>
            <a:r>
              <a:rPr lang="en-IN" sz="3300" dirty="0"/>
              <a:t> Duplicate &amp; Formatting Fixes:</a:t>
            </a:r>
          </a:p>
          <a:p>
            <a:pPr marL="114300" indent="0">
              <a:buNone/>
            </a:pPr>
            <a:r>
              <a:rPr lang="en-IN" sz="3300" dirty="0"/>
              <a:t>       Dropped duplicate rows to keep unique data.</a:t>
            </a:r>
          </a:p>
          <a:p>
            <a:pPr marL="114300" indent="0">
              <a:buNone/>
            </a:pPr>
            <a:r>
              <a:rPr lang="en-IN" sz="3300" dirty="0"/>
              <a:t>       Cleaned extra spaces and standardized text (e.g., “tesla” → “Tesla”).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94991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EEE36-D475-AF54-0330-3E3D24B93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r>
              <a:rPr lang="en-IN" dirty="0" err="1">
                <a:solidFill>
                  <a:srgbClr val="C00000"/>
                </a:solidFill>
              </a:rPr>
              <a:t>Univarite</a:t>
            </a:r>
            <a:r>
              <a:rPr lang="en-IN" dirty="0">
                <a:solidFill>
                  <a:srgbClr val="C00000"/>
                </a:solidFill>
              </a:rPr>
              <a:t> Analysis for Numerical columns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2E9F15-C50B-6031-1A77-983D2B998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51BF1-CF84-EED7-4CA2-80F37AEF6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914400"/>
            <a:ext cx="10515600" cy="5262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9019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3DD4C-2061-0030-9D40-F58B22B95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0281"/>
          </a:xfrm>
        </p:spPr>
        <p:txBody>
          <a:bodyPr>
            <a:normAutofit fontScale="90000"/>
          </a:bodyPr>
          <a:lstStyle/>
          <a:p>
            <a:r>
              <a:rPr lang="en-IN" sz="3600" dirty="0">
                <a:solidFill>
                  <a:srgbClr val="C00000"/>
                </a:solidFill>
              </a:rPr>
              <a:t>Bivariate Analysis (Continuous vs Continuous) :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F24A7-3D81-6260-6EBD-12B1B5EFB3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6858" y="973394"/>
            <a:ext cx="10515600" cy="5282228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33B2FB-B2EF-0791-79F5-84D055926C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858" y="973394"/>
            <a:ext cx="10515599" cy="5282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5160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E3D2-E9F6-0AFD-83B2-B7AE083FA4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Bivariate Analysis (Continuous vs </a:t>
            </a:r>
            <a:r>
              <a:rPr lang="en-IN" sz="3200" dirty="0">
                <a:solidFill>
                  <a:srgbClr val="C00000"/>
                </a:solidFill>
              </a:rPr>
              <a:t>Categorical</a:t>
            </a:r>
            <a:r>
              <a:rPr lang="en-IN" dirty="0">
                <a:solidFill>
                  <a:srgbClr val="C00000"/>
                </a:solidFill>
              </a:rPr>
              <a:t>) :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08AB63-5949-4405-9516-AFA1BFD79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160206"/>
            <a:ext cx="10515600" cy="5016757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D444BC-C268-577D-B060-A4FEFFA220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02889"/>
            <a:ext cx="10515600" cy="526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7532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F2E8D-6C55-71CD-1868-B2729B3E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19778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Multivariate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250ECD-1AF9-0AEF-B81C-D63D2EB4B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884904"/>
            <a:ext cx="10901515" cy="538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2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3DB7C-6731-A5DD-CA71-2777247F8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7094"/>
          </a:xfrm>
        </p:spPr>
        <p:txBody>
          <a:bodyPr>
            <a:normAutofit fontScale="90000"/>
          </a:bodyPr>
          <a:lstStyle/>
          <a:p>
            <a:r>
              <a:rPr lang="en-IN" dirty="0">
                <a:solidFill>
                  <a:srgbClr val="C00000"/>
                </a:solidFill>
              </a:rPr>
              <a:t>Challenges: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82645-937D-B08E-F405-E31CCB027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43896"/>
            <a:ext cx="10515600" cy="4906298"/>
          </a:xfrm>
        </p:spPr>
        <p:txBody>
          <a:bodyPr>
            <a:normAutofit fontScale="92500"/>
          </a:bodyPr>
          <a:lstStyle/>
          <a:p>
            <a:pPr marL="114300" indent="0">
              <a:buNone/>
            </a:pPr>
            <a:endParaRPr lang="en-IN" b="1" dirty="0"/>
          </a:p>
          <a:p>
            <a:r>
              <a:rPr lang="en-IN" dirty="0"/>
              <a:t>Inconsistent HTML structure while scraping data from EV-Database.org.</a:t>
            </a:r>
          </a:p>
          <a:p>
            <a:r>
              <a:rPr lang="en-IN" dirty="0"/>
              <a:t>Extracting multiple values (like Battery, Range, Price) from unstructured text blocks.</a:t>
            </a:r>
          </a:p>
          <a:p>
            <a:r>
              <a:rPr lang="en-IN" dirty="0"/>
              <a:t>Handling missing values and converting text numbers with symbols (€, commas, etc.) to numeric format.</a:t>
            </a:r>
          </a:p>
          <a:p>
            <a:r>
              <a:rPr lang="en-IN" dirty="0"/>
              <a:t>Managing data type mismatches and removing unnecessary columns like Unnamed: 0.</a:t>
            </a:r>
          </a:p>
          <a:p>
            <a:r>
              <a:rPr lang="en-IN" dirty="0"/>
              <a:t>Cleaning and aligning columns for accurate analysis and visualization.</a:t>
            </a:r>
          </a:p>
          <a:p>
            <a:pPr marL="114300" indent="0">
              <a:buNone/>
            </a:pP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815825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0FE7AD-4212-1BC9-7096-3C557DBCF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rgbClr val="C00000"/>
                </a:solidFill>
              </a:rPr>
              <a:t> Learnings: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50526CF-8E64-1201-225E-353A79421FB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425264"/>
            <a:ext cx="1109816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Gained strong understanding of web scraping techniques using </a:t>
            </a:r>
            <a:r>
              <a:rPr kumimoji="0" lang="en-US" altLang="en-US" sz="24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240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regex</a:t>
            </a: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Improved in data cleaning and preprocessing (handling missing, inconsistent, and noisy data).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Learned how to perform Exploratory Data Analysis (EDA) and visualize insights effectively.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Enhanced overall workflow from data collection → cleaning → analysis → visualization.</a:t>
            </a:r>
          </a:p>
        </p:txBody>
      </p:sp>
    </p:spTree>
    <p:extLst>
      <p:ext uri="{BB962C8B-B14F-4D97-AF65-F5344CB8AC3E}">
        <p14:creationId xmlns:p14="http://schemas.microsoft.com/office/powerpoint/2010/main" val="19009870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3F9B-E7DB-3E00-8E04-4C19F17E5F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75417"/>
          </a:xfrm>
        </p:spPr>
        <p:txBody>
          <a:bodyPr>
            <a:normAutofit/>
          </a:bodyPr>
          <a:lstStyle/>
          <a:p>
            <a:r>
              <a:rPr lang="en-IN" sz="4800" dirty="0">
                <a:solidFill>
                  <a:srgbClr val="C00000"/>
                </a:solidFill>
              </a:rPr>
              <a:t>Conclusion: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03F7BD-7EA5-5B3C-9420-9D55CCC1A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9368"/>
            <a:ext cx="10515600" cy="4967595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EVs with larger battery capacity, higher range, and better efficiency have higher prices.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Models with faster acceleration and advanced features (like fast-charging) show greater market value and user preference</a:t>
            </a:r>
          </a:p>
          <a:p>
            <a:pPr>
              <a:buFont typeface="Wingdings" panose="05000000000000000000" pitchFamily="2" charset="2"/>
              <a:buChar char="q"/>
            </a:pPr>
            <a:endParaRPr lang="en-US" dirty="0"/>
          </a:p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Newer, tech-advanced models are priced higher, while older or discontinued ones have lower value.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513195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639</Words>
  <Application>Microsoft Office PowerPoint</Application>
  <PresentationFormat>Widescreen</PresentationFormat>
  <Paragraphs>74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Libre Baskerville</vt:lpstr>
      <vt:lpstr>Calibri</vt:lpstr>
      <vt:lpstr>Wingdings</vt:lpstr>
      <vt:lpstr>Office Theme</vt:lpstr>
      <vt:lpstr>PowerPoint Presentation</vt:lpstr>
      <vt:lpstr>PROBLEM OBJECTIVE : </vt:lpstr>
      <vt:lpstr>Objective of the Project:</vt:lpstr>
      <vt:lpstr>Web Scarping Process:</vt:lpstr>
      <vt:lpstr>PowerPoint Presentation</vt:lpstr>
      <vt:lpstr>PowerPoint Presentation</vt:lpstr>
      <vt:lpstr>Data Summary:</vt:lpstr>
      <vt:lpstr>Data Cleaning:</vt:lpstr>
      <vt:lpstr>Univarite Analysis for Numerical columns</vt:lpstr>
      <vt:lpstr>Bivariate Analysis (Continuous vs Continuous) : </vt:lpstr>
      <vt:lpstr>Bivariate Analysis (Continuous vs Categorical) : </vt:lpstr>
      <vt:lpstr>Multivariate</vt:lpstr>
      <vt:lpstr>Challenges:</vt:lpstr>
      <vt:lpstr> Learnings:</vt:lpstr>
      <vt:lpstr>Conclusion: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Vijay Golliwar</cp:lastModifiedBy>
  <cp:revision>3</cp:revision>
  <dcterms:created xsi:type="dcterms:W3CDTF">2021-02-16T05:19:01Z</dcterms:created>
  <dcterms:modified xsi:type="dcterms:W3CDTF">2025-11-20T09:08:28Z</dcterms:modified>
</cp:coreProperties>
</file>